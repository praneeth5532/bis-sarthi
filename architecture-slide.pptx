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292608" cy="292608"/>
          </a:xfrm>
          <a:prstGeom prst="roundRect">
            <a:avLst/>
          </a:prstGeom>
          <a:solidFill>
            <a:srgbClr val="16775E"/>
          </a:solidFill>
          <a:ln w="10160">
            <a:solidFill>
              <a:srgbClr val="167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600" b="1">
                <a:solidFill>
                  <a:srgbClr val="FFFEFA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38328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00" b="1">
                <a:solidFill>
                  <a:srgbClr val="142B2B"/>
                </a:solidFill>
                <a:latin typeface="Aptos"/>
              </a:defRPr>
            </a:pPr>
            <a:r>
              <a:t>BIS SARTHI  / 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38328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defRPr sz="850" b="1">
                <a:solidFill>
                  <a:srgbClr val="647575"/>
                </a:solidFill>
                <a:latin typeface="Aptos"/>
              </a:defRPr>
            </a:pPr>
            <a:r>
              <a:t>ARCHITECTURE  /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7955279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2900" b="0">
                <a:solidFill>
                  <a:srgbClr val="142B2B"/>
                </a:solidFill>
                <a:latin typeface="Georgia"/>
              </a:defRPr>
            </a:pPr>
            <a:r>
              <a:t>How BIS Sarthi is put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35024"/>
            <a:ext cx="106984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0">
                <a:solidFill>
                  <a:srgbClr val="647575"/>
                </a:solidFill>
                <a:latin typeface="Aptos"/>
              </a:defRPr>
            </a:pPr>
            <a:r>
              <a:t>React experience on the front. FastAPI orchestration in the middle. A local vector index and Gemini power the intended answer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09928"/>
            <a:ext cx="3621024" cy="258775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256032" cy="256032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E1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47088"/>
            <a:ext cx="2560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80" b="1">
                <a:solidFill>
                  <a:srgbClr val="1677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09928"/>
            <a:ext cx="3621024" cy="258775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847088"/>
            <a:ext cx="256032" cy="256032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E1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47088"/>
            <a:ext cx="2560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80" b="1">
                <a:solidFill>
                  <a:srgbClr val="1677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09928"/>
            <a:ext cx="3621024" cy="258775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1847088"/>
            <a:ext cx="256032" cy="256032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E1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47088"/>
            <a:ext cx="2560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80" b="1">
                <a:solidFill>
                  <a:srgbClr val="1677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1837943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00" b="1">
                <a:solidFill>
                  <a:srgbClr val="142B2B"/>
                </a:solidFill>
                <a:latin typeface="Aptos"/>
              </a:defRPr>
            </a:pPr>
            <a:r>
              <a:t>EXPERIENCE  ·  REACT +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1837943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00" b="1">
                <a:solidFill>
                  <a:srgbClr val="142B2B"/>
                </a:solidFill>
                <a:latin typeface="Aptos"/>
              </a:defRPr>
            </a:pPr>
            <a:r>
              <a:t>API  ·  RETRIEVAL  · 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37943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00" b="1">
                <a:solidFill>
                  <a:srgbClr val="142B2B"/>
                </a:solidFill>
                <a:latin typeface="Aptos"/>
              </a:defRPr>
            </a:pPr>
            <a:r>
              <a:t>KNOWLEDGE  ·  AI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185416"/>
            <a:ext cx="3255264" cy="393192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C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1000" b="1">
                <a:solidFill>
                  <a:srgbClr val="13543F"/>
                </a:solidFill>
                <a:latin typeface="Aptos"/>
              </a:defRPr>
            </a:pPr>
            <a:r>
              <a:t>BIS standards question</a:t>
            </a:r>
          </a:p>
          <a:p>
            <a:pPr>
              <a:spcBef>
                <a:spcPts val="200"/>
              </a:spcBef>
              <a:defRPr sz="770">
                <a:solidFill>
                  <a:srgbClr val="647575"/>
                </a:solidFill>
                <a:latin typeface="Aptos"/>
              </a:defRPr>
            </a:pPr>
            <a:r>
              <a:t>User enters a question in the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57860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00" b="1">
                <a:solidFill>
                  <a:srgbClr val="16775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752344"/>
            <a:ext cx="3255264" cy="466344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940" b="1">
                <a:solidFill>
                  <a:srgbClr val="142B2B"/>
                </a:solidFill>
                <a:latin typeface="Aptos"/>
              </a:defRPr>
            </a:pPr>
            <a:r>
              <a:t>React app state  ·  src/main.jsx → src/App.jsx</a:t>
            </a:r>
          </a:p>
          <a:p>
            <a:pPr>
              <a:spcBef>
                <a:spcPts val="200"/>
              </a:spcBef>
              <a:defRPr sz="770">
                <a:solidFill>
                  <a:srgbClr val="647575"/>
                </a:solidFill>
                <a:latin typeface="Aptos"/>
              </a:defRPr>
            </a:pPr>
            <a:r>
              <a:t>Owns conversation messages and loading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19272"/>
            <a:ext cx="1581912" cy="34747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10" b="1">
                <a:solidFill>
                  <a:srgbClr val="142B2B"/>
                </a:solidFill>
                <a:latin typeface="Aptos"/>
              </a:defRPr>
            </a:pPr>
            <a:r>
              <a:t>Navbar</a:t>
            </a:r>
          </a:p>
          <a:p>
            <a:pPr>
              <a:spcBef>
                <a:spcPts val="200"/>
              </a:spcBef>
              <a:defRPr sz="680">
                <a:solidFill>
                  <a:srgbClr val="647575"/>
                </a:solidFill>
                <a:latin typeface="Aptos"/>
              </a:defRPr>
            </a:pPr>
            <a:r>
              <a:t>Brand / header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59152" y="3319272"/>
            <a:ext cx="1581912" cy="34747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10" b="1">
                <a:solidFill>
                  <a:srgbClr val="142B2B"/>
                </a:solidFill>
                <a:latin typeface="Aptos"/>
              </a:defRPr>
            </a:pPr>
            <a:r>
              <a:t>SearchBar</a:t>
            </a:r>
          </a:p>
          <a:p>
            <a:pPr>
              <a:spcBef>
                <a:spcPts val="200"/>
              </a:spcBef>
              <a:defRPr sz="680">
                <a:solidFill>
                  <a:srgbClr val="647575"/>
                </a:solidFill>
                <a:latin typeface="Aptos"/>
              </a:defRPr>
            </a:pPr>
            <a:r>
              <a:t>Input / submit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30752"/>
            <a:ext cx="1581912" cy="34747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10" b="1">
                <a:solidFill>
                  <a:srgbClr val="142B2B"/>
                </a:solidFill>
                <a:latin typeface="Aptos"/>
              </a:defRPr>
            </a:pPr>
            <a:r>
              <a:t>Results</a:t>
            </a:r>
          </a:p>
          <a:p>
            <a:pPr>
              <a:spcBef>
                <a:spcPts val="200"/>
              </a:spcBef>
              <a:defRPr sz="680">
                <a:solidFill>
                  <a:srgbClr val="647575"/>
                </a:solidFill>
                <a:latin typeface="Aptos"/>
              </a:defRPr>
            </a:pPr>
            <a:r>
              <a:t>Conversation 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3730752"/>
            <a:ext cx="1581912" cy="34747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10" b="1">
                <a:solidFill>
                  <a:srgbClr val="142B2B"/>
                </a:solidFill>
                <a:latin typeface="Aptos"/>
              </a:defRPr>
            </a:pPr>
            <a:r>
              <a:t>App.css + index.css</a:t>
            </a:r>
          </a:p>
          <a:p>
            <a:pPr>
              <a:spcBef>
                <a:spcPts val="200"/>
              </a:spcBef>
              <a:defRPr sz="680">
                <a:solidFill>
                  <a:srgbClr val="647575"/>
                </a:solidFill>
                <a:latin typeface="Aptos"/>
              </a:defRPr>
            </a:pPr>
            <a:r>
              <a:t>Visual 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3255264" cy="384048"/>
          </a:xfrm>
          <a:prstGeom prst="roundRect">
            <a:avLst/>
          </a:prstGeom>
          <a:solidFill>
            <a:srgbClr val="F5F8F5"/>
          </a:solidFill>
          <a:ln w="10160">
            <a:solidFill>
              <a:srgbClr val="9BAC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69" b="1">
                <a:solidFill>
                  <a:srgbClr val="142B2B"/>
                </a:solidFill>
                <a:latin typeface="Aptos"/>
              </a:defRPr>
            </a:pPr>
            <a:r>
              <a:t>API service  ·  src/services/api.js</a:t>
            </a:r>
          </a:p>
          <a:p>
            <a:pPr>
              <a:spcBef>
                <a:spcPts val="200"/>
              </a:spcBef>
              <a:defRPr sz="710">
                <a:solidFill>
                  <a:srgbClr val="647575"/>
                </a:solidFill>
                <a:latin typeface="Aptos"/>
              </a:defRPr>
            </a:pPr>
            <a:r>
              <a:t>fetch(POST) → http://localhost:5000/api/ask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608576"/>
            <a:ext cx="3182112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30" b="1">
                <a:solidFill>
                  <a:srgbClr val="C45F4D"/>
                </a:solidFill>
                <a:latin typeface="Aptos"/>
              </a:defRPr>
            </a:pPr>
            <a:r>
              <a:t>Presently unused by App.jsx; UI shows a placeholder answer.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1416" y="2185416"/>
            <a:ext cx="3236976" cy="502920"/>
          </a:xfrm>
          <a:prstGeom prst="roundRect">
            <a:avLst/>
          </a:prstGeom>
          <a:solidFill>
            <a:srgbClr val="E8F0F3"/>
          </a:solidFill>
          <a:ln w="10160">
            <a:solidFill>
              <a:srgbClr val="C4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1000" b="1">
                <a:solidFill>
                  <a:srgbClr val="487C93"/>
                </a:solidFill>
                <a:latin typeface="Aptos"/>
              </a:defRPr>
            </a:pPr>
            <a:r>
              <a:t>FastAPI  ·  api.py</a:t>
            </a:r>
          </a:p>
          <a:p>
            <a:pPr>
              <a:spcBef>
                <a:spcPts val="200"/>
              </a:spcBef>
              <a:defRPr sz="760">
                <a:solidFill>
                  <a:srgbClr val="647575"/>
                </a:solidFill>
                <a:latin typeface="Aptos"/>
              </a:defRPr>
            </a:pPr>
            <a:r>
              <a:t>GET / health check   |   POST /ask accepts { question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2432" y="2688336"/>
            <a:ext cx="5029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00" b="1">
                <a:solidFill>
                  <a:srgbClr val="16775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2871216"/>
            <a:ext cx="3236976" cy="365760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80" b="1">
                <a:solidFill>
                  <a:srgbClr val="142B2B"/>
                </a:solidFill>
                <a:latin typeface="Aptos"/>
              </a:defRPr>
            </a:pPr>
            <a:r>
              <a:t>1  Embed question</a:t>
            </a:r>
          </a:p>
          <a:p>
            <a:pPr>
              <a:spcBef>
                <a:spcPts val="200"/>
              </a:spcBef>
              <a:defRPr sz="710">
                <a:solidFill>
                  <a:srgbClr val="647575"/>
                </a:solidFill>
                <a:latin typeface="Aptos"/>
              </a:defRPr>
            </a:pPr>
            <a:r>
              <a:t>SentenceTransformer · all-MiniLM-L6-v2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2" y="3227832"/>
            <a:ext cx="5029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00" b="1">
                <a:solidFill>
                  <a:srgbClr val="16775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3401568"/>
            <a:ext cx="3236976" cy="365760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C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80" b="1">
                <a:solidFill>
                  <a:srgbClr val="142B2B"/>
                </a:solidFill>
                <a:latin typeface="Aptos"/>
              </a:defRPr>
            </a:pPr>
            <a:r>
              <a:t>2  Retrieve top 3 passages</a:t>
            </a:r>
          </a:p>
          <a:p>
            <a:pPr>
              <a:spcBef>
                <a:spcPts val="200"/>
              </a:spcBef>
              <a:defRPr sz="710">
                <a:solidFill>
                  <a:srgbClr val="647575"/>
                </a:solidFill>
                <a:latin typeface="Aptos"/>
              </a:defRPr>
            </a:pPr>
            <a:r>
              <a:t>Semantic search in 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3758184"/>
            <a:ext cx="5029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00" b="1">
                <a:solidFill>
                  <a:srgbClr val="16775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71416" y="3931920"/>
            <a:ext cx="3236976" cy="365760"/>
          </a:xfrm>
          <a:prstGeom prst="roundRect">
            <a:avLst/>
          </a:prstGeom>
          <a:solidFill>
            <a:srgbClr val="F2F7D9"/>
          </a:solidFill>
          <a:ln w="10160">
            <a:solidFill>
              <a:srgbClr val="DCE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80" b="1">
                <a:solidFill>
                  <a:srgbClr val="142B2B"/>
                </a:solidFill>
                <a:latin typeface="Aptos"/>
              </a:defRPr>
            </a:pPr>
            <a:r>
              <a:t>3  Build context → Gemini</a:t>
            </a:r>
          </a:p>
          <a:p>
            <a:pPr>
              <a:spcBef>
                <a:spcPts val="200"/>
              </a:spcBef>
              <a:defRPr sz="710">
                <a:solidFill>
                  <a:srgbClr val="647575"/>
                </a:solidFill>
                <a:latin typeface="Aptos"/>
              </a:defRPr>
            </a:pPr>
            <a:r>
              <a:t>Answer grounded in retrieved BIS document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343400"/>
            <a:ext cx="3200400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10" b="0">
                <a:solidFill>
                  <a:srgbClr val="647575"/>
                </a:solidFill>
                <a:latin typeface="Aptos"/>
              </a:defRPr>
            </a:pPr>
            <a:r>
              <a:t>Returns question · answer · sources [document, page]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47888" y="2185416"/>
            <a:ext cx="3236976" cy="758952"/>
          </a:xfrm>
          <a:prstGeom prst="roundRect">
            <a:avLst/>
          </a:prstGeom>
          <a:solidFill>
            <a:srgbClr val="E1F0E8"/>
          </a:solidFill>
          <a:ln w="10160">
            <a:solidFill>
              <a:srgbClr val="C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940" b="1">
                <a:solidFill>
                  <a:srgbClr val="142B2B"/>
                </a:solidFill>
                <a:latin typeface="Aptos"/>
              </a:defRPr>
            </a:pPr>
            <a:r>
              <a:t>ChromaDB  ·  persistent vector store</a:t>
            </a:r>
          </a:p>
          <a:p>
            <a:pPr>
              <a:spcBef>
                <a:spcPts val="200"/>
              </a:spcBef>
              <a:defRPr sz="750">
                <a:solidFill>
                  <a:srgbClr val="647575"/>
                </a:solidFill>
                <a:latin typeface="Aptos"/>
              </a:defRPr>
            </a:pPr>
            <a:r>
              <a:t>Collection: bis_documents</a:t>
            </a:r>
            <a:br/>
            <a:r>
              <a:t>Stores embedded chunks for semantic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907792"/>
            <a:ext cx="306324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20" b="1">
                <a:solidFill>
                  <a:srgbClr val="16775E"/>
                </a:solidFill>
                <a:latin typeface="Aptos"/>
              </a:defRPr>
            </a:pPr>
            <a:r>
              <a:t>Metadata: document · page · chunk_id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191256"/>
            <a:ext cx="3236976" cy="603504"/>
          </a:xfrm>
          <a:prstGeom prst="roundRect">
            <a:avLst/>
          </a:prstGeom>
          <a:solidFill>
            <a:srgbClr val="F2F7D9"/>
          </a:solidFill>
          <a:ln w="10160">
            <a:solidFill>
              <a:srgbClr val="DCE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940" b="1">
                <a:solidFill>
                  <a:srgbClr val="5E7117"/>
                </a:solidFill>
                <a:latin typeface="Aptos"/>
              </a:defRPr>
            </a:pPr>
            <a:r>
              <a:t>Google Gemini API</a:t>
            </a:r>
          </a:p>
          <a:p>
            <a:pPr>
              <a:spcBef>
                <a:spcPts val="200"/>
              </a:spcBef>
              <a:defRPr sz="750">
                <a:solidFill>
                  <a:srgbClr val="647575"/>
                </a:solidFill>
                <a:latin typeface="Aptos"/>
              </a:defRPr>
            </a:pPr>
            <a:r>
              <a:t>Receives question + retrieved context; generates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5" y="3877056"/>
            <a:ext cx="318211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40" b="0">
                <a:solidFill>
                  <a:srgbClr val="647575"/>
                </a:solidFill>
                <a:latin typeface="Aptos"/>
              </a:defRPr>
            </a:pPr>
            <a:r>
              <a:t>Backend is the orchestrator: it queries Chroma, then calls Gemini.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3017520"/>
            <a:ext cx="310896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00" b="1">
                <a:solidFill>
                  <a:srgbClr val="C45F4D"/>
                </a:solidFill>
                <a:latin typeface="Aptos"/>
              </a:defRPr>
            </a:pPr>
            <a:r>
              <a:t>···▶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3438144"/>
            <a:ext cx="310896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00" b="1">
                <a:solidFill>
                  <a:srgbClr val="1677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507992"/>
            <a:ext cx="11173968" cy="950976"/>
          </a:xfrm>
          <a:prstGeom prst="roundRect">
            <a:avLst/>
          </a:prstGeom>
          <a:solidFill>
            <a:srgbClr val="EEF2E9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608576"/>
            <a:ext cx="199339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50" b="1">
                <a:solidFill>
                  <a:srgbClr val="16775E"/>
                </a:solidFill>
                <a:latin typeface="Aptos"/>
              </a:defRPr>
            </a:pPr>
            <a:r>
              <a:t>OFFLINE INDEXING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608576"/>
            <a:ext cx="338328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10" b="1">
                <a:solidFill>
                  <a:srgbClr val="142B2B"/>
                </a:solidFill>
                <a:latin typeface="Aptos"/>
              </a:defRPr>
            </a:pPr>
            <a:r>
              <a:t>build_rag.py  ·  run to prepare the vector store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910328"/>
            <a:ext cx="1993392" cy="39319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00" b="1">
                <a:solidFill>
                  <a:srgbClr val="142B2B"/>
                </a:solidFill>
                <a:latin typeface="Aptos"/>
              </a:defRPr>
            </a:pPr>
            <a:r>
              <a:t>01  BIS PDFs</a:t>
            </a:r>
          </a:p>
          <a:p>
            <a:pPr>
              <a:spcBef>
                <a:spcPts val="200"/>
              </a:spcBef>
              <a:defRPr sz="690">
                <a:solidFill>
                  <a:srgbClr val="647575"/>
                </a:solidFill>
                <a:latin typeface="Aptos"/>
              </a:defRPr>
            </a:pPr>
            <a:r>
              <a:t>documents/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9192" y="4956048"/>
            <a:ext cx="1828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00" b="1">
                <a:solidFill>
                  <a:srgbClr val="1677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62072" y="4910328"/>
            <a:ext cx="1993392" cy="39319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00" b="1">
                <a:solidFill>
                  <a:srgbClr val="142B2B"/>
                </a:solidFill>
                <a:latin typeface="Aptos"/>
              </a:defRPr>
            </a:pPr>
            <a:r>
              <a:t>02  Extract</a:t>
            </a:r>
          </a:p>
          <a:p>
            <a:pPr>
              <a:spcBef>
                <a:spcPts val="200"/>
              </a:spcBef>
              <a:defRPr sz="690">
                <a:solidFill>
                  <a:srgbClr val="647575"/>
                </a:solidFill>
                <a:latin typeface="Aptos"/>
              </a:defRPr>
            </a:pPr>
            <a:r>
              <a:t>PyPDF page 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5464" y="4956048"/>
            <a:ext cx="1828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00" b="1">
                <a:solidFill>
                  <a:srgbClr val="1677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38344" y="4910328"/>
            <a:ext cx="1993392" cy="39319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00" b="1">
                <a:solidFill>
                  <a:srgbClr val="142B2B"/>
                </a:solidFill>
                <a:latin typeface="Aptos"/>
              </a:defRPr>
            </a:pPr>
            <a:r>
              <a:t>03  Chunk + embed</a:t>
            </a:r>
          </a:p>
          <a:p>
            <a:pPr>
              <a:spcBef>
                <a:spcPts val="200"/>
              </a:spcBef>
              <a:defRPr sz="690">
                <a:solidFill>
                  <a:srgbClr val="647575"/>
                </a:solidFill>
                <a:latin typeface="Aptos"/>
              </a:defRPr>
            </a:pPr>
            <a:r>
              <a:t>500 words · 100 overlap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31736" y="4956048"/>
            <a:ext cx="1828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00" b="1">
                <a:solidFill>
                  <a:srgbClr val="1677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14616" y="4910328"/>
            <a:ext cx="1993392" cy="39319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00" b="1">
                <a:solidFill>
                  <a:srgbClr val="142B2B"/>
                </a:solidFill>
                <a:latin typeface="Aptos"/>
              </a:defRPr>
            </a:pPr>
            <a:r>
              <a:t>04  Upsert</a:t>
            </a:r>
          </a:p>
          <a:p>
            <a:pPr>
              <a:spcBef>
                <a:spcPts val="200"/>
              </a:spcBef>
              <a:defRPr sz="690">
                <a:solidFill>
                  <a:srgbClr val="647575"/>
                </a:solidFill>
                <a:latin typeface="Aptos"/>
              </a:defRPr>
            </a:pPr>
            <a:r>
              <a:t>embeddings + metadata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8008" y="4956048"/>
            <a:ext cx="1828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00" b="1">
                <a:solidFill>
                  <a:srgbClr val="1677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90888" y="4910328"/>
            <a:ext cx="1993392" cy="393192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41148" bIns="32004"/>
          <a:lstStyle/>
          <a:p>
            <a:pPr algn="ctr">
              <a:defRPr sz="800" b="1">
                <a:solidFill>
                  <a:srgbClr val="142B2B"/>
                </a:solidFill>
                <a:latin typeface="Aptos"/>
              </a:defRPr>
            </a:pPr>
            <a:r>
              <a:t>05  ChromaDB</a:t>
            </a:r>
          </a:p>
          <a:p>
            <a:pPr>
              <a:spcBef>
                <a:spcPts val="200"/>
              </a:spcBef>
              <a:defRPr sz="690">
                <a:solidFill>
                  <a:srgbClr val="647575"/>
                </a:solidFill>
                <a:latin typeface="Aptos"/>
              </a:defRPr>
            </a:pPr>
            <a:r>
              <a:t>bis_documents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4608576"/>
            <a:ext cx="217627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defRPr sz="670" b="0">
                <a:solidFill>
                  <a:srgbClr val="647575"/>
                </a:solidFill>
                <a:latin typeface="Aptos"/>
              </a:defRPr>
            </a:pPr>
            <a:r>
              <a:t>Utilities: ingest.py inspects PDFs · rag_gemini.py is CLI RAG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605272"/>
            <a:ext cx="11173968" cy="713232"/>
          </a:xfrm>
          <a:prstGeom prst="roundRect">
            <a:avLst/>
          </a:prstGeom>
          <a:solidFill>
            <a:srgbClr val="F8E9E3"/>
          </a:solidFill>
          <a:ln w="10160">
            <a:solidFill>
              <a:srgbClr val="E8C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5605272"/>
            <a:ext cx="64008" cy="713232"/>
          </a:xfrm>
          <a:prstGeom prst="rect">
            <a:avLst/>
          </a:prstGeom>
          <a:solidFill>
            <a:srgbClr val="C45F4D"/>
          </a:solidFill>
          <a:ln w="10160">
            <a:solidFill>
              <a:srgbClr val="C45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715000"/>
            <a:ext cx="1353312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19" b="1">
                <a:solidFill>
                  <a:srgbClr val="C45F4D"/>
                </a:solidFill>
                <a:latin typeface="Aptos"/>
              </a:defRPr>
            </a:pPr>
            <a:r>
              <a:t>INTEGRATION GAP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5925312"/>
            <a:ext cx="137160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20" b="1">
                <a:solidFill>
                  <a:srgbClr val="873D32"/>
                </a:solidFill>
                <a:latin typeface="Aptos"/>
              </a:defRPr>
            </a:pPr>
            <a:r>
              <a:t>RAG NOT WIRED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85416" y="5696712"/>
            <a:ext cx="9217152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80" b="0">
                <a:solidFill>
                  <a:srgbClr val="5A4743"/>
                </a:solidFill>
                <a:latin typeface="Aptos"/>
              </a:defRPr>
            </a:pPr>
            <a:r>
              <a:t>App.jsx currently returns a timed placeholder and does not call askQuestion(). To activate RAG, wire the service into the submit handler, align the client URL (/api/ask) with FastAPI’s route (/ask), and configure CORS if the ports differ.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" y="6510528"/>
            <a:ext cx="813816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20" b="0">
                <a:solidFill>
                  <a:srgbClr val="647575"/>
                </a:solidFill>
                <a:latin typeface="Aptos"/>
              </a:defRPr>
            </a:pPr>
            <a:r>
              <a:t>BIS SARTHI  ·  React frontend  /  FastAPI backend  /  ChromaDB retrieval  /  Gemini generation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6510528"/>
            <a:ext cx="129844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defRPr sz="720" b="1">
                <a:solidFill>
                  <a:srgbClr val="647575"/>
                </a:solidFill>
                <a:latin typeface="Aptos"/>
              </a:defRPr>
            </a:pPr>
            <a:r>
              <a:t>SYSTEM MAP  · 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